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Montserrat Classic" panose="020B0604020202020204" charset="0"/>
      <p:regular r:id="rId19"/>
    </p:embeddedFont>
    <p:embeddedFont>
      <p:font typeface="Montserrat Classic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1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675462" cy="824630"/>
          </a:xfrm>
          <a:custGeom>
            <a:avLst/>
            <a:gdLst/>
            <a:ahLst/>
            <a:cxnLst/>
            <a:rect l="l" t="t" r="r" b="b"/>
            <a:pathLst>
              <a:path w="675462" h="824630">
                <a:moveTo>
                  <a:pt x="0" y="0"/>
                </a:moveTo>
                <a:lnTo>
                  <a:pt x="675462" y="0"/>
                </a:lnTo>
                <a:lnTo>
                  <a:pt x="675462" y="824630"/>
                </a:lnTo>
                <a:lnTo>
                  <a:pt x="0" y="824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111642">
            <a:off x="11120480" y="105555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99354" y="2467746"/>
            <a:ext cx="17460046" cy="4578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26"/>
              </a:lnSpc>
            </a:pPr>
            <a:r>
              <a:rPr lang="en-US" sz="12047" dirty="0">
                <a:solidFill>
                  <a:srgbClr val="004AAD"/>
                </a:solidFill>
                <a:latin typeface="Montserrat Classic Bold"/>
              </a:rPr>
              <a:t>AAJ GLOBAL FUTURE AND EMERGING TECH</a:t>
            </a:r>
          </a:p>
          <a:p>
            <a:pPr algn="l">
              <a:lnSpc>
                <a:spcPts val="11926"/>
              </a:lnSpc>
            </a:pPr>
            <a:r>
              <a:rPr lang="en-US" sz="12047" dirty="0">
                <a:solidFill>
                  <a:srgbClr val="004AAD"/>
                </a:solidFill>
                <a:latin typeface="Montserrat Classic Bold"/>
              </a:rPr>
              <a:t>Index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150262"/>
            <a:ext cx="485187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Aakash Sawant</a:t>
            </a:r>
          </a:p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Aryaman Utkarsh Gangwar</a:t>
            </a:r>
          </a:p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2E2E2E"/>
                </a:solidFill>
                <a:latin typeface="Montserrat Classic"/>
              </a:rPr>
              <a:t>James Schiemmel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8225" y="1133475"/>
            <a:ext cx="10369210" cy="828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3"/>
              </a:lnSpc>
            </a:pPr>
            <a:r>
              <a:rPr lang="en-US" sz="6123">
                <a:solidFill>
                  <a:srgbClr val="004AAD"/>
                </a:solidFill>
                <a:latin typeface="Montserrat Classic Bold"/>
              </a:rPr>
              <a:t>CONTENT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353557"/>
            <a:ext cx="5560161" cy="446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Objective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The Rise of Tech Stocks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Methodology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Sectors/industries and components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04184" y="4353557"/>
            <a:ext cx="7833902" cy="385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Performance Attribution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Performance vs index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The rationale behind Equal Weighting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The rationale behind ROIC 20%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Pros/Cons</a:t>
            </a:r>
          </a:p>
        </p:txBody>
      </p:sp>
      <p:sp>
        <p:nvSpPr>
          <p:cNvPr id="5" name="Freeform 5"/>
          <p:cNvSpPr/>
          <p:nvPr/>
        </p:nvSpPr>
        <p:spPr>
          <a:xfrm rot="-1625759">
            <a:off x="10837013" y="-4312634"/>
            <a:ext cx="9495369" cy="7717145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25759">
            <a:off x="7878598" y="2149852"/>
            <a:ext cx="10884489" cy="8846121"/>
          </a:xfrm>
          <a:custGeom>
            <a:avLst/>
            <a:gdLst/>
            <a:ahLst/>
            <a:cxnLst/>
            <a:rect l="l" t="t" r="r" b="b"/>
            <a:pathLst>
              <a:path w="10884489" h="8846121">
                <a:moveTo>
                  <a:pt x="0" y="0"/>
                </a:moveTo>
                <a:lnTo>
                  <a:pt x="10884489" y="0"/>
                </a:lnTo>
                <a:lnTo>
                  <a:pt x="10884489" y="8846120"/>
                </a:lnTo>
                <a:lnTo>
                  <a:pt x="0" y="884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626730"/>
            <a:ext cx="11339643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68966"/>
            <a:ext cx="6008785" cy="602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Global exposure to companies on the cutting edge of new technologies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High quality through ROIC to focus on companies that can convert new technologies into growth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Large cap companies that have the resources to implement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44593">
            <a:off x="8023448" y="-2009860"/>
            <a:ext cx="17617704" cy="17617704"/>
          </a:xfrm>
          <a:custGeom>
            <a:avLst/>
            <a:gdLst/>
            <a:ahLst/>
            <a:cxnLst/>
            <a:rect l="l" t="t" r="r" b="b"/>
            <a:pathLst>
              <a:path w="17617704" h="17617704">
                <a:moveTo>
                  <a:pt x="0" y="0"/>
                </a:moveTo>
                <a:lnTo>
                  <a:pt x="17617704" y="0"/>
                </a:lnTo>
                <a:lnTo>
                  <a:pt x="17617704" y="17617704"/>
                </a:lnTo>
                <a:lnTo>
                  <a:pt x="0" y="1761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4662819">
            <a:off x="10335003" y="-3389035"/>
            <a:ext cx="10269633" cy="7086142"/>
          </a:xfrm>
          <a:custGeom>
            <a:avLst/>
            <a:gdLst/>
            <a:ahLst/>
            <a:cxnLst/>
            <a:rect l="l" t="t" r="r" b="b"/>
            <a:pathLst>
              <a:path w="10269633" h="7086142">
                <a:moveTo>
                  <a:pt x="0" y="0"/>
                </a:moveTo>
                <a:lnTo>
                  <a:pt x="10269632" y="0"/>
                </a:lnTo>
                <a:lnTo>
                  <a:pt x="10269632" y="7086143"/>
                </a:lnTo>
                <a:lnTo>
                  <a:pt x="0" y="708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8905814" flipH="1">
            <a:off x="-3666607" y="8195905"/>
            <a:ext cx="9209011" cy="7484415"/>
          </a:xfrm>
          <a:custGeom>
            <a:avLst/>
            <a:gdLst/>
            <a:ahLst/>
            <a:cxnLst/>
            <a:rect l="l" t="t" r="r" b="b"/>
            <a:pathLst>
              <a:path w="9209011" h="7484415">
                <a:moveTo>
                  <a:pt x="9209012" y="0"/>
                </a:moveTo>
                <a:lnTo>
                  <a:pt x="0" y="0"/>
                </a:lnTo>
                <a:lnTo>
                  <a:pt x="0" y="7484414"/>
                </a:lnTo>
                <a:lnTo>
                  <a:pt x="9209012" y="7484414"/>
                </a:lnTo>
                <a:lnTo>
                  <a:pt x="9209012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93677" y="3261540"/>
            <a:ext cx="8550323" cy="1881960"/>
          </a:xfrm>
          <a:custGeom>
            <a:avLst/>
            <a:gdLst/>
            <a:ahLst/>
            <a:cxnLst/>
            <a:rect l="l" t="t" r="r" b="b"/>
            <a:pathLst>
              <a:path w="8550323" h="1881960">
                <a:moveTo>
                  <a:pt x="0" y="0"/>
                </a:moveTo>
                <a:lnTo>
                  <a:pt x="8550323" y="0"/>
                </a:lnTo>
                <a:lnTo>
                  <a:pt x="8550323" y="1881960"/>
                </a:lnTo>
                <a:lnTo>
                  <a:pt x="0" y="18819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203013" y="4939907"/>
            <a:ext cx="9801915" cy="4569475"/>
          </a:xfrm>
          <a:custGeom>
            <a:avLst/>
            <a:gdLst/>
            <a:ahLst/>
            <a:cxnLst/>
            <a:rect l="l" t="t" r="r" b="b"/>
            <a:pathLst>
              <a:path w="9801915" h="4569475">
                <a:moveTo>
                  <a:pt x="0" y="0"/>
                </a:moveTo>
                <a:lnTo>
                  <a:pt x="9801916" y="0"/>
                </a:lnTo>
                <a:lnTo>
                  <a:pt x="9801916" y="4569474"/>
                </a:lnTo>
                <a:lnTo>
                  <a:pt x="0" y="45694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75525" y="655943"/>
            <a:ext cx="8336950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THE RISE OF TECH STOCK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44593">
            <a:off x="8023448" y="-2009860"/>
            <a:ext cx="17617704" cy="17617704"/>
          </a:xfrm>
          <a:custGeom>
            <a:avLst/>
            <a:gdLst/>
            <a:ahLst/>
            <a:cxnLst/>
            <a:rect l="l" t="t" r="r" b="b"/>
            <a:pathLst>
              <a:path w="17617704" h="17617704">
                <a:moveTo>
                  <a:pt x="0" y="0"/>
                </a:moveTo>
                <a:lnTo>
                  <a:pt x="17617704" y="0"/>
                </a:lnTo>
                <a:lnTo>
                  <a:pt x="17617704" y="17617704"/>
                </a:lnTo>
                <a:lnTo>
                  <a:pt x="0" y="1761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4662819">
            <a:off x="10335003" y="-3389035"/>
            <a:ext cx="10269633" cy="7086142"/>
          </a:xfrm>
          <a:custGeom>
            <a:avLst/>
            <a:gdLst/>
            <a:ahLst/>
            <a:cxnLst/>
            <a:rect l="l" t="t" r="r" b="b"/>
            <a:pathLst>
              <a:path w="10269633" h="7086142">
                <a:moveTo>
                  <a:pt x="0" y="0"/>
                </a:moveTo>
                <a:lnTo>
                  <a:pt x="10269632" y="0"/>
                </a:lnTo>
                <a:lnTo>
                  <a:pt x="10269632" y="7086143"/>
                </a:lnTo>
                <a:lnTo>
                  <a:pt x="0" y="708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8905814" flipH="1">
            <a:off x="-3666607" y="8195905"/>
            <a:ext cx="9209011" cy="7484415"/>
          </a:xfrm>
          <a:custGeom>
            <a:avLst/>
            <a:gdLst/>
            <a:ahLst/>
            <a:cxnLst/>
            <a:rect l="l" t="t" r="r" b="b"/>
            <a:pathLst>
              <a:path w="9209011" h="7484415">
                <a:moveTo>
                  <a:pt x="9209012" y="0"/>
                </a:moveTo>
                <a:lnTo>
                  <a:pt x="0" y="0"/>
                </a:lnTo>
                <a:lnTo>
                  <a:pt x="0" y="7484414"/>
                </a:lnTo>
                <a:lnTo>
                  <a:pt x="9209012" y="7484414"/>
                </a:lnTo>
                <a:lnTo>
                  <a:pt x="9209012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3209711"/>
            <a:ext cx="8530829" cy="1933789"/>
          </a:xfrm>
          <a:custGeom>
            <a:avLst/>
            <a:gdLst/>
            <a:ahLst/>
            <a:cxnLst/>
            <a:rect l="l" t="t" r="r" b="b"/>
            <a:pathLst>
              <a:path w="8530829" h="1933789">
                <a:moveTo>
                  <a:pt x="0" y="0"/>
                </a:moveTo>
                <a:lnTo>
                  <a:pt x="8530829" y="0"/>
                </a:lnTo>
                <a:lnTo>
                  <a:pt x="8530829" y="1933789"/>
                </a:lnTo>
                <a:lnTo>
                  <a:pt x="0" y="19337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7760" y="6939901"/>
            <a:ext cx="10194214" cy="1932552"/>
          </a:xfrm>
          <a:custGeom>
            <a:avLst/>
            <a:gdLst/>
            <a:ahLst/>
            <a:cxnLst/>
            <a:rect l="l" t="t" r="r" b="b"/>
            <a:pathLst>
              <a:path w="10194214" h="1932552">
                <a:moveTo>
                  <a:pt x="0" y="0"/>
                </a:moveTo>
                <a:lnTo>
                  <a:pt x="10194215" y="0"/>
                </a:lnTo>
                <a:lnTo>
                  <a:pt x="10194215" y="1932553"/>
                </a:lnTo>
                <a:lnTo>
                  <a:pt x="0" y="19325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472826" y="4379575"/>
            <a:ext cx="8542290" cy="4001861"/>
          </a:xfrm>
          <a:custGeom>
            <a:avLst/>
            <a:gdLst/>
            <a:ahLst/>
            <a:cxnLst/>
            <a:rect l="l" t="t" r="r" b="b"/>
            <a:pathLst>
              <a:path w="8542290" h="4001861">
                <a:moveTo>
                  <a:pt x="0" y="0"/>
                </a:moveTo>
                <a:lnTo>
                  <a:pt x="8542290" y="0"/>
                </a:lnTo>
                <a:lnTo>
                  <a:pt x="8542290" y="4001861"/>
                </a:lnTo>
                <a:lnTo>
                  <a:pt x="0" y="4001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75525" y="764323"/>
            <a:ext cx="8336950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THE RISE OF TECH STOCK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64043">
            <a:off x="-4052117" y="-737535"/>
            <a:ext cx="11511802" cy="11511802"/>
          </a:xfrm>
          <a:custGeom>
            <a:avLst/>
            <a:gdLst/>
            <a:ahLst/>
            <a:cxnLst/>
            <a:rect l="l" t="t" r="r" b="b"/>
            <a:pathLst>
              <a:path w="11511802" h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284008">
            <a:off x="12761683" y="7147182"/>
            <a:ext cx="4789367" cy="7690070"/>
          </a:xfrm>
          <a:custGeom>
            <a:avLst/>
            <a:gdLst/>
            <a:ahLst/>
            <a:cxnLst/>
            <a:rect l="l" t="t" r="r" b="b"/>
            <a:pathLst>
              <a:path w="4789367" h="7690070">
                <a:moveTo>
                  <a:pt x="0" y="0"/>
                </a:moveTo>
                <a:lnTo>
                  <a:pt x="4789367" y="0"/>
                </a:lnTo>
                <a:lnTo>
                  <a:pt x="4789367" y="7690070"/>
                </a:lnTo>
                <a:lnTo>
                  <a:pt x="0" y="76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42056" y="855975"/>
            <a:ext cx="7960859" cy="98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7310">
                <a:solidFill>
                  <a:srgbClr val="004AAD"/>
                </a:solidFill>
                <a:latin typeface="Montserrat Classic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2056" y="2276577"/>
            <a:ext cx="10247710" cy="249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 Bold"/>
              </a:rPr>
              <a:t>Base Universe:</a:t>
            </a:r>
            <a:r>
              <a:rPr lang="en-US" sz="2499">
                <a:solidFill>
                  <a:srgbClr val="2E2E2E"/>
                </a:solidFill>
                <a:latin typeface="Montserrat Classic"/>
              </a:rPr>
              <a:t> Global</a:t>
            </a:r>
          </a:p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 Bold"/>
              </a:rPr>
              <a:t>Theme: </a:t>
            </a:r>
            <a:r>
              <a:rPr lang="en-US" sz="2499">
                <a:solidFill>
                  <a:srgbClr val="2E2E2E"/>
                </a:solidFill>
                <a:latin typeface="Montserrat Classic"/>
              </a:rPr>
              <a:t>Technologies that are in a position to massively increase in viability or efficiency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</p:txBody>
      </p:sp>
      <p:sp>
        <p:nvSpPr>
          <p:cNvPr id="6" name="Freeform 6"/>
          <p:cNvSpPr/>
          <p:nvPr/>
        </p:nvSpPr>
        <p:spPr>
          <a:xfrm rot="1505868">
            <a:off x="9245019" y="-4340343"/>
            <a:ext cx="12580534" cy="8680686"/>
          </a:xfrm>
          <a:custGeom>
            <a:avLst/>
            <a:gdLst/>
            <a:ahLst/>
            <a:cxnLst/>
            <a:rect l="l" t="t" r="r" b="b"/>
            <a:pathLst>
              <a:path w="12580534" h="8680686">
                <a:moveTo>
                  <a:pt x="0" y="0"/>
                </a:moveTo>
                <a:lnTo>
                  <a:pt x="12580534" y="0"/>
                </a:lnTo>
                <a:lnTo>
                  <a:pt x="12580534" y="8680686"/>
                </a:lnTo>
                <a:lnTo>
                  <a:pt x="0" y="868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42056" y="4768952"/>
          <a:ext cx="17581809" cy="3659414"/>
        </p:xfrm>
        <a:graphic>
          <a:graphicData uri="http://schemas.openxmlformats.org/drawingml/2006/table">
            <a:tbl>
              <a:tblPr/>
              <a:tblGrid>
                <a:gridCol w="123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6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8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57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218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67971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3D Printing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5G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AI Ecosystem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Big Data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Blockchain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Cloud Computing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Genome Editing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Nanotechnology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Laser Technology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3472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Robotics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Virtual and Augmented Reality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Agricultural Biotech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Cyber Security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Electric Vehicles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Green Energy Utilities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Human Augmentation Technology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Medical Biotech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Metaverse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971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NFTs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Social Media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Clean Tech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Montserrat Classic"/>
                        </a:rPr>
                        <a:t>Energy Tech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64043">
            <a:off x="-4052117" y="-737535"/>
            <a:ext cx="11511802" cy="11511802"/>
          </a:xfrm>
          <a:custGeom>
            <a:avLst/>
            <a:gdLst/>
            <a:ahLst/>
            <a:cxnLst/>
            <a:rect l="l" t="t" r="r" b="b"/>
            <a:pathLst>
              <a:path w="11511802" h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284008">
            <a:off x="12761683" y="7147182"/>
            <a:ext cx="4789367" cy="7690070"/>
          </a:xfrm>
          <a:custGeom>
            <a:avLst/>
            <a:gdLst/>
            <a:ahLst/>
            <a:cxnLst/>
            <a:rect l="l" t="t" r="r" b="b"/>
            <a:pathLst>
              <a:path w="4789367" h="7690070">
                <a:moveTo>
                  <a:pt x="0" y="0"/>
                </a:moveTo>
                <a:lnTo>
                  <a:pt x="4789367" y="0"/>
                </a:lnTo>
                <a:lnTo>
                  <a:pt x="4789367" y="7690070"/>
                </a:lnTo>
                <a:lnTo>
                  <a:pt x="0" y="76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42056" y="819848"/>
            <a:ext cx="7960859" cy="98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7310">
                <a:solidFill>
                  <a:srgbClr val="004AAD"/>
                </a:solidFill>
                <a:latin typeface="Montserrat Classic Bold"/>
              </a:rPr>
              <a:t>METHODOLOGY</a:t>
            </a:r>
          </a:p>
        </p:txBody>
      </p:sp>
      <p:sp>
        <p:nvSpPr>
          <p:cNvPr id="5" name="Freeform 5"/>
          <p:cNvSpPr/>
          <p:nvPr/>
        </p:nvSpPr>
        <p:spPr>
          <a:xfrm rot="1505868">
            <a:off x="9245019" y="-4340343"/>
            <a:ext cx="12580534" cy="8680686"/>
          </a:xfrm>
          <a:custGeom>
            <a:avLst/>
            <a:gdLst/>
            <a:ahLst/>
            <a:cxnLst/>
            <a:rect l="l" t="t" r="r" b="b"/>
            <a:pathLst>
              <a:path w="12580534" h="8680686">
                <a:moveTo>
                  <a:pt x="0" y="0"/>
                </a:moveTo>
                <a:lnTo>
                  <a:pt x="12580534" y="0"/>
                </a:lnTo>
                <a:lnTo>
                  <a:pt x="12580534" y="8680686"/>
                </a:lnTo>
                <a:lnTo>
                  <a:pt x="0" y="868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42056" y="2886863"/>
            <a:ext cx="8701944" cy="703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 Bold"/>
              </a:rPr>
              <a:t>Minimum Free-Float Adjusted Market Capitalization: </a:t>
            </a:r>
            <a:r>
              <a:rPr lang="en-US" sz="2499">
                <a:solidFill>
                  <a:srgbClr val="2E2E2E"/>
                </a:solidFill>
                <a:latin typeface="Montserrat Classic"/>
              </a:rPr>
              <a:t>33,000 Million USD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Guarantees component companies have the resources to devote to RND to achieve critical growth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 Bold"/>
              </a:rPr>
              <a:t>Quality:</a:t>
            </a:r>
            <a:r>
              <a:rPr lang="en-US" sz="2499">
                <a:solidFill>
                  <a:srgbClr val="2E2E2E"/>
                </a:solidFill>
                <a:latin typeface="Montserrat Classic"/>
              </a:rPr>
              <a:t> Require return on invested capital to be greater than or equal to 20%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73710" y="2886863"/>
            <a:ext cx="6439253" cy="400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 Bold"/>
              </a:rPr>
              <a:t>Weighting</a:t>
            </a:r>
            <a:r>
              <a:rPr lang="en-US" sz="2499">
                <a:solidFill>
                  <a:srgbClr val="2E2E2E"/>
                </a:solidFill>
                <a:latin typeface="Montserrat Classic"/>
              </a:rPr>
              <a:t>: Equal weighted 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marL="539749" lvl="1" indent="-269875" algn="l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2E2E2E"/>
                </a:solidFill>
                <a:latin typeface="Montserrat Classic"/>
              </a:rPr>
              <a:t>Under alternative methods gain overexposure to a very small number of stocks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endParaRPr lang="en-US" sz="2499" u="none" strike="noStrike">
              <a:solidFill>
                <a:srgbClr val="2E2E2E"/>
              </a:solidFill>
              <a:latin typeface="Montserrat Classic"/>
            </a:endParaRPr>
          </a:p>
          <a:p>
            <a:pPr marL="539749" lvl="1" indent="-269875" algn="l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2E2E2E"/>
                </a:solidFill>
                <a:latin typeface="Montserrat Classic Bold"/>
              </a:rPr>
              <a:t>Rebalancing and Reconstitution:</a:t>
            </a:r>
            <a:r>
              <a:rPr lang="en-US" sz="2499" u="none" strike="noStrike">
                <a:solidFill>
                  <a:srgbClr val="2E2E2E"/>
                </a:solidFill>
                <a:latin typeface="Montserrat Classic"/>
              </a:rPr>
              <a:t> Quarterly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525861">
            <a:off x="8777887" y="-2612009"/>
            <a:ext cx="13709384" cy="13709384"/>
          </a:xfrm>
          <a:custGeom>
            <a:avLst/>
            <a:gdLst/>
            <a:ahLst/>
            <a:cxnLst/>
            <a:rect l="l" t="t" r="r" b="b"/>
            <a:pathLst>
              <a:path w="13709384" h="13709384">
                <a:moveTo>
                  <a:pt x="0" y="0"/>
                </a:moveTo>
                <a:lnTo>
                  <a:pt x="13709384" y="0"/>
                </a:lnTo>
                <a:lnTo>
                  <a:pt x="13709384" y="13709384"/>
                </a:lnTo>
                <a:lnTo>
                  <a:pt x="0" y="1370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8532740" flipH="1">
            <a:off x="-2703495" y="7048838"/>
            <a:ext cx="6729406" cy="5469172"/>
          </a:xfrm>
          <a:custGeom>
            <a:avLst/>
            <a:gdLst/>
            <a:ahLst/>
            <a:cxnLst/>
            <a:rect l="l" t="t" r="r" b="b"/>
            <a:pathLst>
              <a:path w="6729406" h="5469172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03751" y="2508648"/>
          <a:ext cx="7550024" cy="7353300"/>
        </p:xfrm>
        <a:graphic>
          <a:graphicData uri="http://schemas.openxmlformats.org/drawingml/2006/table">
            <a:tbl>
              <a:tblPr/>
              <a:tblGrid>
                <a:gridCol w="1887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482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Company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Price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Market Capitalization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Sector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482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Microsoft Corporation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415.50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3,087,346,253,149.50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482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Apple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179.66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2,774,288,340,460.00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482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NVIDIA Corporation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822.79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2,056,975,000,000.00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8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Meta Platforms,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502.30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1,105,084,565,986.10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8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Alphabet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137.14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808,166,020,000.00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28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Alphabet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138.08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783,051,680,000.00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482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Eli Lilly and Company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782.12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743,142,621,198.24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Pharmaceuticals - Major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26869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Taiwan Semiconductor Manufacturing Company Limited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133.90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694,460,861,165.76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Semiconductor Manufacturing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28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Broadcom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1,399.17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648,404,661,228.93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Semiconductors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869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Taiwan Semiconductor Manufacturing Company Limited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21.80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565,435,504,828.14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Semiconductor Manufacturing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327374" y="2512639"/>
          <a:ext cx="7676466" cy="7124703"/>
        </p:xfrm>
        <a:graphic>
          <a:graphicData uri="http://schemas.openxmlformats.org/drawingml/2006/table">
            <a:tbl>
              <a:tblPr/>
              <a:tblGrid>
                <a:gridCol w="182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53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Company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Price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Market Capitalization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Sector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53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Microsoft Corporation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415.50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3,087,346,253,149.50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25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Apple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179.66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2,774,288,340,460.00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53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NVIDIA Corporation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822.79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2,056,975,000,000.00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25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Meta Platforms,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502.30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1,105,084,565,986.10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25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Alphabet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137.14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808,166,020,000.00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325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Alphabet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138.08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783,051,680,000.00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Technology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538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Eli Lilly and Company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782.12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743,142,621,198.24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Pharmaceuticals - Major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26963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Taiwan Semiconductor Manufacturing Company Limited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133.90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694,460,861,165.76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Semiconductor Manufacturing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325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Broadcom Inc.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1,399.17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648,404,661,228.93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Semiconductors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963"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Taiwan Semiconductor Manufacturing Company Limited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21.80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565,435,504,828.14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000000"/>
                          </a:solidFill>
                          <a:latin typeface="Montserrat Classic"/>
                        </a:rPr>
                        <a:t>Semiconductor Manufacturing</a:t>
                      </a:r>
                      <a:endParaRPr lang="en-US" sz="1100"/>
                    </a:p>
                  </a:txBody>
                  <a:tcPr marL="85725" marR="85725" marT="85725" marB="857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41181" y="765473"/>
            <a:ext cx="9309379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CONSTITUENTS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27374" y="508298"/>
            <a:ext cx="10247710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Total Constituents- 62</a:t>
            </a: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525861">
            <a:off x="8777887" y="-2612009"/>
            <a:ext cx="13709384" cy="13709384"/>
          </a:xfrm>
          <a:custGeom>
            <a:avLst/>
            <a:gdLst/>
            <a:ahLst/>
            <a:cxnLst/>
            <a:rect l="l" t="t" r="r" b="b"/>
            <a:pathLst>
              <a:path w="13709384" h="13709384">
                <a:moveTo>
                  <a:pt x="0" y="0"/>
                </a:moveTo>
                <a:lnTo>
                  <a:pt x="13709384" y="0"/>
                </a:lnTo>
                <a:lnTo>
                  <a:pt x="13709384" y="13709384"/>
                </a:lnTo>
                <a:lnTo>
                  <a:pt x="0" y="1370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8532740" flipH="1">
            <a:off x="-2329992" y="8140136"/>
            <a:ext cx="5673866" cy="4611306"/>
          </a:xfrm>
          <a:custGeom>
            <a:avLst/>
            <a:gdLst/>
            <a:ahLst/>
            <a:cxnLst/>
            <a:rect l="l" t="t" r="r" b="b"/>
            <a:pathLst>
              <a:path w="5673866" h="4611306">
                <a:moveTo>
                  <a:pt x="5673866" y="0"/>
                </a:moveTo>
                <a:lnTo>
                  <a:pt x="0" y="0"/>
                </a:lnTo>
                <a:lnTo>
                  <a:pt x="0" y="4611305"/>
                </a:lnTo>
                <a:lnTo>
                  <a:pt x="5673866" y="4611305"/>
                </a:lnTo>
                <a:lnTo>
                  <a:pt x="5673866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091917" y="693220"/>
            <a:ext cx="10104166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 COMPONENTS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2056" y="2276577"/>
            <a:ext cx="10247710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By Country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508724" y="2085774"/>
            <a:ext cx="10247710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By Sector</a:t>
            </a: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  <a:p>
            <a:pPr algn="l">
              <a:lnSpc>
                <a:spcPts val="3999"/>
              </a:lnSpc>
            </a:pPr>
            <a:endParaRPr lang="en-US" sz="2499">
              <a:solidFill>
                <a:srgbClr val="2E2E2E"/>
              </a:solidFill>
              <a:latin typeface="Montserrat Classi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0" y="2599848"/>
            <a:ext cx="8192588" cy="647286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759" y="2355796"/>
            <a:ext cx="8517228" cy="638022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525861">
            <a:off x="8777887" y="-2612009"/>
            <a:ext cx="13709384" cy="13709384"/>
          </a:xfrm>
          <a:custGeom>
            <a:avLst/>
            <a:gdLst/>
            <a:ahLst/>
            <a:cxnLst/>
            <a:rect l="l" t="t" r="r" b="b"/>
            <a:pathLst>
              <a:path w="13709384" h="13709384">
                <a:moveTo>
                  <a:pt x="0" y="0"/>
                </a:moveTo>
                <a:lnTo>
                  <a:pt x="13709384" y="0"/>
                </a:lnTo>
                <a:lnTo>
                  <a:pt x="13709384" y="13709384"/>
                </a:lnTo>
                <a:lnTo>
                  <a:pt x="0" y="1370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8532740" flipH="1">
            <a:off x="-2329992" y="8140136"/>
            <a:ext cx="5673866" cy="4611306"/>
          </a:xfrm>
          <a:custGeom>
            <a:avLst/>
            <a:gdLst/>
            <a:ahLst/>
            <a:cxnLst/>
            <a:rect l="l" t="t" r="r" b="b"/>
            <a:pathLst>
              <a:path w="5673866" h="4611306">
                <a:moveTo>
                  <a:pt x="5673866" y="0"/>
                </a:moveTo>
                <a:lnTo>
                  <a:pt x="0" y="0"/>
                </a:lnTo>
                <a:lnTo>
                  <a:pt x="0" y="4611305"/>
                </a:lnTo>
                <a:lnTo>
                  <a:pt x="5673866" y="4611305"/>
                </a:lnTo>
                <a:lnTo>
                  <a:pt x="5673866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06941" y="3065463"/>
          <a:ext cx="7315200" cy="44831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047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Sector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Relative Allocation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Return in Portfolio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Allocation Effect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Selection Effects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53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Energy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-0.0364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-0.0002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-0.0436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-0.0502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53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Materials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0.0814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0.0996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0.054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0.0068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53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Utilities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-0.0294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-0.0079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-0.0079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53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Financials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-0.1296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0.0443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-0.1254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0.0288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47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Health Care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0.169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0.3064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0.1404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99" u="none" strike="noStrike">
                          <a:solidFill>
                            <a:srgbClr val="000000"/>
                          </a:solidFill>
                          <a:latin typeface="Montserrat Classic"/>
                        </a:rPr>
                        <a:t>0.0217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91810" y="3065463"/>
          <a:ext cx="7951543" cy="5089074"/>
        </p:xfrm>
        <a:graphic>
          <a:graphicData uri="http://schemas.openxmlformats.org/drawingml/2006/table">
            <a:tbl>
              <a:tblPr/>
              <a:tblGrid>
                <a:gridCol w="2100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789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Sector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Relative Allocation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Return in Portfolio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Allocation Effect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Selection Effects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06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Industrials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-0.0576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0.0143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-0.0493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-0.0438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06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Real Estate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-0.0289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-0.0156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-0.0156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06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Consumer Staples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-0.0741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-0.0378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-0.0378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789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Communication Services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-0.0391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0.0857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-0.048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0.0169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789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Consumer Discretionary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-0.0784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0.0193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-0.075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-0.0009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1789"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Information Technology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0.2231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0.6001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0.2824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ontserrat Classic"/>
                        </a:rPr>
                        <a:t>0.0307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-2641740" y="504825"/>
            <a:ext cx="23571479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PERFORMANCE ATTRIBUTION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08728">
            <a:off x="6461224" y="-4582532"/>
            <a:ext cx="15887340" cy="15887340"/>
          </a:xfrm>
          <a:custGeom>
            <a:avLst/>
            <a:gdLst/>
            <a:ahLst/>
            <a:cxnLst/>
            <a:rect l="l" t="t" r="r" b="b"/>
            <a:pathLst>
              <a:path w="15887340" h="15887340">
                <a:moveTo>
                  <a:pt x="0" y="0"/>
                </a:moveTo>
                <a:lnTo>
                  <a:pt x="15887341" y="0"/>
                </a:lnTo>
                <a:lnTo>
                  <a:pt x="15887341" y="15887340"/>
                </a:lnTo>
                <a:lnTo>
                  <a:pt x="0" y="15887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8401" flipH="1">
            <a:off x="15297701" y="384797"/>
            <a:ext cx="6729406" cy="5469172"/>
          </a:xfrm>
          <a:custGeom>
            <a:avLst/>
            <a:gdLst/>
            <a:ahLst/>
            <a:cxnLst/>
            <a:rect l="l" t="t" r="r" b="b"/>
            <a:pathLst>
              <a:path w="6729406" h="5469172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82301">
            <a:off x="-5072607" y="6650746"/>
            <a:ext cx="11928886" cy="8231043"/>
          </a:xfrm>
          <a:custGeom>
            <a:avLst/>
            <a:gdLst/>
            <a:ahLst/>
            <a:cxnLst/>
            <a:rect l="l" t="t" r="r" b="b"/>
            <a:pathLst>
              <a:path w="11928886" h="8231043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837510" y="2239011"/>
          <a:ext cx="7944732" cy="7515226"/>
        </p:xfrm>
        <a:graphic>
          <a:graphicData uri="http://schemas.openxmlformats.org/drawingml/2006/table">
            <a:tbl>
              <a:tblPr/>
              <a:tblGrid>
                <a:gridCol w="264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Category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Index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Benchmark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Index Returns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Return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125.67%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106.3%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Annualized Return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13.68%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12.08%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Sharpe Ratio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2.08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1.92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Index Volatility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Daily Volatility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1.19%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1.28%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Annualized Volatility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18.95%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20.27%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Max Drawdown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-28.89%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-34.06%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Relative Statistics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Tracking Error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7.36%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Beta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0.87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6897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Annualized Information Ratio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0.22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828818" y="680338"/>
            <a:ext cx="16430482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PERFORMANCE VS INDEX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35208"/>
            <a:ext cx="4594534" cy="78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</a:rPr>
              <a:t> iShares Edge MSCI USA Quality Factor ETF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08728">
            <a:off x="6461224" y="-4582532"/>
            <a:ext cx="15887340" cy="15887340"/>
          </a:xfrm>
          <a:custGeom>
            <a:avLst/>
            <a:gdLst/>
            <a:ahLst/>
            <a:cxnLst/>
            <a:rect l="l" t="t" r="r" b="b"/>
            <a:pathLst>
              <a:path w="15887340" h="15887340">
                <a:moveTo>
                  <a:pt x="0" y="0"/>
                </a:moveTo>
                <a:lnTo>
                  <a:pt x="15887341" y="0"/>
                </a:lnTo>
                <a:lnTo>
                  <a:pt x="15887341" y="15887340"/>
                </a:lnTo>
                <a:lnTo>
                  <a:pt x="0" y="15887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8401" flipH="1">
            <a:off x="15297701" y="384797"/>
            <a:ext cx="6729406" cy="5469172"/>
          </a:xfrm>
          <a:custGeom>
            <a:avLst/>
            <a:gdLst/>
            <a:ahLst/>
            <a:cxnLst/>
            <a:rect l="l" t="t" r="r" b="b"/>
            <a:pathLst>
              <a:path w="6729406" h="5469172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82301">
            <a:off x="-5072607" y="6650746"/>
            <a:ext cx="11928886" cy="8231043"/>
          </a:xfrm>
          <a:custGeom>
            <a:avLst/>
            <a:gdLst/>
            <a:ahLst/>
            <a:cxnLst/>
            <a:rect l="l" t="t" r="r" b="b"/>
            <a:pathLst>
              <a:path w="11928886" h="8231043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417829" y="2128639"/>
          <a:ext cx="7906307" cy="7515226"/>
        </p:xfrm>
        <a:graphic>
          <a:graphicData uri="http://schemas.openxmlformats.org/drawingml/2006/table">
            <a:tbl>
              <a:tblPr/>
              <a:tblGrid>
                <a:gridCol w="3531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6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Category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Index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Benchmark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Index Returns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Return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125.67%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174.61%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Annualized Return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13.68%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17.25%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Sharpe Ratio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2.08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1.80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Index Volatility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Daily Volatility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1.19%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1.62%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Annualized Volatility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18.95%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25.72%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Max Drawdown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-28.89%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-36.3%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Relative Statistics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Tracking Error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10.73%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385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Beta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0.69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6897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Annualized Information Ratio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0.33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828818" y="680338"/>
            <a:ext cx="16430482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PERFORMANCE VS INDEX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35208"/>
            <a:ext cx="4594534" cy="38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2E2E2E"/>
                </a:solidFill>
                <a:latin typeface="Montserrat Classic"/>
              </a:rPr>
              <a:t>iShares Global Tech ETF</a:t>
            </a:r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08728">
            <a:off x="6461224" y="-4582532"/>
            <a:ext cx="15887340" cy="15887340"/>
          </a:xfrm>
          <a:custGeom>
            <a:avLst/>
            <a:gdLst/>
            <a:ahLst/>
            <a:cxnLst/>
            <a:rect l="l" t="t" r="r" b="b"/>
            <a:pathLst>
              <a:path w="15887340" h="15887340">
                <a:moveTo>
                  <a:pt x="0" y="0"/>
                </a:moveTo>
                <a:lnTo>
                  <a:pt x="15887341" y="0"/>
                </a:lnTo>
                <a:lnTo>
                  <a:pt x="15887341" y="15887340"/>
                </a:lnTo>
                <a:lnTo>
                  <a:pt x="0" y="15887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48401" flipH="1">
            <a:off x="15297701" y="384797"/>
            <a:ext cx="6729406" cy="5469172"/>
          </a:xfrm>
          <a:custGeom>
            <a:avLst/>
            <a:gdLst/>
            <a:ahLst/>
            <a:cxnLst/>
            <a:rect l="l" t="t" r="r" b="b"/>
            <a:pathLst>
              <a:path w="6729406" h="5469172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82301">
            <a:off x="-5072607" y="6650746"/>
            <a:ext cx="11928886" cy="8231043"/>
          </a:xfrm>
          <a:custGeom>
            <a:avLst/>
            <a:gdLst/>
            <a:ahLst/>
            <a:cxnLst/>
            <a:rect l="l" t="t" r="r" b="b"/>
            <a:pathLst>
              <a:path w="11928886" h="8231043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221128" y="6599978"/>
            <a:ext cx="13645862" cy="2385076"/>
          </a:xfrm>
          <a:custGeom>
            <a:avLst/>
            <a:gdLst/>
            <a:ahLst/>
            <a:cxnLst/>
            <a:rect l="l" t="t" r="r" b="b"/>
            <a:pathLst>
              <a:path w="13645862" h="2385076">
                <a:moveTo>
                  <a:pt x="0" y="0"/>
                </a:moveTo>
                <a:lnTo>
                  <a:pt x="13645862" y="0"/>
                </a:lnTo>
                <a:lnTo>
                  <a:pt x="13645862" y="2385075"/>
                </a:lnTo>
                <a:lnTo>
                  <a:pt x="0" y="2385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320376" y="2741912"/>
            <a:ext cx="13647248" cy="2264202"/>
          </a:xfrm>
          <a:custGeom>
            <a:avLst/>
            <a:gdLst/>
            <a:ahLst/>
            <a:cxnLst/>
            <a:rect l="l" t="t" r="r" b="b"/>
            <a:pathLst>
              <a:path w="13647248" h="2264202">
                <a:moveTo>
                  <a:pt x="0" y="0"/>
                </a:moveTo>
                <a:lnTo>
                  <a:pt x="13647248" y="0"/>
                </a:lnTo>
                <a:lnTo>
                  <a:pt x="13647248" y="2264203"/>
                </a:lnTo>
                <a:lnTo>
                  <a:pt x="0" y="2264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28818" y="680338"/>
            <a:ext cx="16430482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PERFORMANCE VS INDEX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46792" y="9502682"/>
            <a:ext cx="4594534" cy="38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</a:rPr>
              <a:t>iShares Global Tech ETF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6733" y="5215678"/>
            <a:ext cx="4594534" cy="78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>
                <a:solidFill>
                  <a:srgbClr val="2E2E2E"/>
                </a:solidFill>
                <a:latin typeface="Montserrat Classic"/>
              </a:rPr>
              <a:t> iShares Edge MSCI USA Quality Factor ETF</a:t>
            </a:r>
          </a:p>
        </p:txBody>
      </p:sp>
    </p:spTree>
  </p:cSld>
  <p:clrMapOvr>
    <a:masterClrMapping/>
  </p:clrMapOvr>
  <p:transition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30669">
            <a:off x="-7971294" y="-10725049"/>
            <a:ext cx="18539921" cy="18539921"/>
          </a:xfrm>
          <a:custGeom>
            <a:avLst/>
            <a:gdLst/>
            <a:ahLst/>
            <a:cxnLst/>
            <a:rect l="l" t="t" r="r" b="b"/>
            <a:pathLst>
              <a:path w="18539921" h="18539921">
                <a:moveTo>
                  <a:pt x="0" y="0"/>
                </a:moveTo>
                <a:lnTo>
                  <a:pt x="18539921" y="0"/>
                </a:lnTo>
                <a:lnTo>
                  <a:pt x="18539921" y="18539921"/>
                </a:lnTo>
                <a:lnTo>
                  <a:pt x="0" y="1853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242519" flipH="1">
            <a:off x="-1042019" y="8240279"/>
            <a:ext cx="8063091" cy="6553094"/>
          </a:xfrm>
          <a:custGeom>
            <a:avLst/>
            <a:gdLst/>
            <a:ahLst/>
            <a:cxnLst/>
            <a:rect l="l" t="t" r="r" b="b"/>
            <a:pathLst>
              <a:path w="8063091" h="6553094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66318" y="3646063"/>
          <a:ext cx="7315200" cy="459104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Style Factor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Index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Benchmark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Momentum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-0.11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-0.50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Value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-0.06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-0.31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Size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0.53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0.57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Quality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0.30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0.53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Low Volatility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-0.40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-0.55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Liquidity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0.59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0.64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Yield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-0.22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-0.53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28700" y="3646063"/>
          <a:ext cx="7315200" cy="459104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Style Factor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Index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Benchmark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Momentum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-0.47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-0.09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Value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-0.21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0.15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Size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0.64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0.43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Quality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0.65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-0.07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Low Volatility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-0.51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-0.08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Liquidity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0.68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0.48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Yield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-0.55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 Classic"/>
                        </a:rPr>
                        <a:t>-0.14</a:t>
                      </a:r>
                      <a:endParaRPr lang="en-US" sz="1100"/>
                    </a:p>
                  </a:txBody>
                  <a:tcPr marL="161925" marR="161925" marT="161925" marB="1619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257380" y="479479"/>
            <a:ext cx="15400454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THE RATIONALE BEHIND EQUAL WEIGHTING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37555" y="2955979"/>
            <a:ext cx="10247710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Equal Weighting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57606" y="2955979"/>
            <a:ext cx="10247710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2E2E2E"/>
                </a:solidFill>
                <a:latin typeface="Montserrat Classic"/>
              </a:rPr>
              <a:t>Market-Cap Weighting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243363" flipH="1">
            <a:off x="-2245362" y="8208318"/>
            <a:ext cx="6548125" cy="5321840"/>
          </a:xfrm>
          <a:custGeom>
            <a:avLst/>
            <a:gdLst/>
            <a:ahLst/>
            <a:cxnLst/>
            <a:rect l="l" t="t" r="r" b="b"/>
            <a:pathLst>
              <a:path w="6548125" h="5321840">
                <a:moveTo>
                  <a:pt x="6548124" y="0"/>
                </a:moveTo>
                <a:lnTo>
                  <a:pt x="0" y="0"/>
                </a:lnTo>
                <a:lnTo>
                  <a:pt x="0" y="5321840"/>
                </a:lnTo>
                <a:lnTo>
                  <a:pt x="6548124" y="5321840"/>
                </a:lnTo>
                <a:lnTo>
                  <a:pt x="6548124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517496" y="3105150"/>
          <a:ext cx="12550825" cy="6153150"/>
        </p:xfrm>
        <a:graphic>
          <a:graphicData uri="http://schemas.openxmlformats.org/drawingml/2006/table">
            <a:tbl>
              <a:tblPr/>
              <a:tblGrid>
                <a:gridCol w="130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0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6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30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Roic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Sharpe Ratio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1 yr Return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1 yr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Max Return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Max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 Bold"/>
                        </a:rPr>
                        <a:t>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19.07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0.67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94.17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21.69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109.2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24.02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118.99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1.17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25.09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133.69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No Roic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2.08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21.44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0.7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98.39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1.1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 Classic"/>
                        </a:rPr>
                        <a:t>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624190" y="629102"/>
            <a:ext cx="15039621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THE RATIONALE BEHIND ROIC 20%</a:t>
            </a:r>
          </a:p>
        </p:txBody>
      </p:sp>
    </p:spTree>
  </p:cSld>
  <p:clrMapOvr>
    <a:masterClrMapping/>
  </p:clrMapOvr>
  <p:transition>
    <p:cover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04825"/>
            <a:ext cx="7598416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004AAD"/>
                </a:solidFill>
                <a:latin typeface="Montserrat Classic Bold"/>
              </a:rPr>
              <a:t>PROS/CONS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6057" y="2595116"/>
            <a:ext cx="320011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Pros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09521" y="2595116"/>
            <a:ext cx="320011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2E2E2E"/>
                </a:solidFill>
                <a:latin typeface="Montserrat Classic Bold"/>
              </a:rPr>
              <a:t>Cons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8847" y="3369866"/>
            <a:ext cx="5339702" cy="6021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834" lvl="1" indent="-250917" algn="l">
              <a:lnSpc>
                <a:spcPts val="3719"/>
              </a:lnSpc>
              <a:buFont typeface="Arial"/>
              <a:buChar char="•"/>
            </a:pPr>
            <a:r>
              <a:rPr lang="en-US" sz="2324">
                <a:solidFill>
                  <a:srgbClr val="2E2E2E"/>
                </a:solidFill>
                <a:latin typeface="Montserrat Classic"/>
              </a:rPr>
              <a:t>Exposure to a large number of companies with the potential for dramatic price appreciation </a:t>
            </a:r>
          </a:p>
          <a:p>
            <a:pPr marL="501834" lvl="1" indent="-250917" algn="l">
              <a:lnSpc>
                <a:spcPts val="3719"/>
              </a:lnSpc>
              <a:buFont typeface="Arial"/>
              <a:buChar char="•"/>
            </a:pPr>
            <a:r>
              <a:rPr lang="en-US" sz="2324">
                <a:solidFill>
                  <a:srgbClr val="2E2E2E"/>
                </a:solidFill>
                <a:latin typeface="Montserrat Classic"/>
              </a:rPr>
              <a:t>Focus on future innovation</a:t>
            </a:r>
          </a:p>
          <a:p>
            <a:pPr marL="501834" lvl="1" indent="-250917" algn="l">
              <a:lnSpc>
                <a:spcPts val="3719"/>
              </a:lnSpc>
              <a:buFont typeface="Arial"/>
              <a:buChar char="•"/>
            </a:pPr>
            <a:r>
              <a:rPr lang="en-US" sz="2324">
                <a:solidFill>
                  <a:srgbClr val="2E2E2E"/>
                </a:solidFill>
                <a:latin typeface="Montserrat Classic"/>
              </a:rPr>
              <a:t>Highly Diversified, global universe and equal weighting mitigate geographic and concentration risk</a:t>
            </a:r>
          </a:p>
          <a:p>
            <a:pPr marL="501834" lvl="1" indent="-250917" algn="l">
              <a:lnSpc>
                <a:spcPts val="3719"/>
              </a:lnSpc>
              <a:buFont typeface="Arial"/>
              <a:buChar char="•"/>
            </a:pPr>
            <a:r>
              <a:rPr lang="en-US" sz="2324">
                <a:solidFill>
                  <a:srgbClr val="2E2E2E"/>
                </a:solidFill>
                <a:latin typeface="Montserrat Classic"/>
              </a:rPr>
              <a:t>Large Quality Focus, the companies within the index have high market caps and reliable returns on investment</a:t>
            </a:r>
          </a:p>
          <a:p>
            <a:pPr algn="l">
              <a:lnSpc>
                <a:spcPts val="3719"/>
              </a:lnSpc>
            </a:pPr>
            <a:endParaRPr lang="en-US" sz="2324">
              <a:solidFill>
                <a:srgbClr val="2E2E2E"/>
              </a:solidFill>
              <a:latin typeface="Montserrat Class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973578" y="3369866"/>
            <a:ext cx="5509103" cy="572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755" lvl="1" indent="-258877" algn="l">
              <a:lnSpc>
                <a:spcPts val="3836"/>
              </a:lnSpc>
              <a:buFont typeface="Arial"/>
              <a:buChar char="•"/>
            </a:pPr>
            <a:r>
              <a:rPr lang="en-US" sz="2398">
                <a:solidFill>
                  <a:srgbClr val="2E2E2E"/>
                </a:solidFill>
                <a:latin typeface="Montserrat Classic"/>
              </a:rPr>
              <a:t>Highly concentrated on technology</a:t>
            </a:r>
          </a:p>
          <a:p>
            <a:pPr marL="517755" lvl="1" indent="-258877" algn="l">
              <a:lnSpc>
                <a:spcPts val="3836"/>
              </a:lnSpc>
              <a:buFont typeface="Arial"/>
              <a:buChar char="•"/>
            </a:pPr>
            <a:r>
              <a:rPr lang="en-US" sz="2398">
                <a:solidFill>
                  <a:srgbClr val="2E2E2E"/>
                </a:solidFill>
                <a:latin typeface="Montserrat Classic"/>
              </a:rPr>
              <a:t>Market cap threshold may prevent the inclusion of smaller companies that lead innovation</a:t>
            </a:r>
          </a:p>
          <a:p>
            <a:pPr marL="517755" lvl="1" indent="-258877" algn="l">
              <a:lnSpc>
                <a:spcPts val="3836"/>
              </a:lnSpc>
              <a:buFont typeface="Arial"/>
              <a:buChar char="•"/>
            </a:pPr>
            <a:r>
              <a:rPr lang="en-US" sz="2398">
                <a:solidFill>
                  <a:srgbClr val="2E2E2E"/>
                </a:solidFill>
                <a:latin typeface="Montserrat Classic"/>
              </a:rPr>
              <a:t>Focus on ROIC may exclude companies that are not currently profitable but will be soon</a:t>
            </a:r>
          </a:p>
          <a:p>
            <a:pPr marL="517755" lvl="1" indent="-258877" algn="l">
              <a:lnSpc>
                <a:spcPts val="3836"/>
              </a:lnSpc>
              <a:buFont typeface="Arial"/>
              <a:buChar char="•"/>
            </a:pPr>
            <a:r>
              <a:rPr lang="en-US" sz="2398">
                <a:solidFill>
                  <a:srgbClr val="2E2E2E"/>
                </a:solidFill>
                <a:latin typeface="Montserrat Classic"/>
              </a:rPr>
              <a:t>Equal weighting may reduce the amount of gain from riding stock growth up</a:t>
            </a:r>
          </a:p>
          <a:p>
            <a:pPr algn="l">
              <a:lnSpc>
                <a:spcPts val="3836"/>
              </a:lnSpc>
            </a:pPr>
            <a:endParaRPr lang="en-US" sz="2398">
              <a:solidFill>
                <a:srgbClr val="2E2E2E"/>
              </a:solidFill>
              <a:latin typeface="Montserrat Classic"/>
            </a:endParaRPr>
          </a:p>
        </p:txBody>
      </p:sp>
      <p:sp>
        <p:nvSpPr>
          <p:cNvPr id="7" name="Freeform 7"/>
          <p:cNvSpPr/>
          <p:nvPr/>
        </p:nvSpPr>
        <p:spPr>
          <a:xfrm rot="3987423" flipH="1">
            <a:off x="12956168" y="8298951"/>
            <a:ext cx="7053025" cy="5732186"/>
          </a:xfrm>
          <a:custGeom>
            <a:avLst/>
            <a:gdLst/>
            <a:ahLst/>
            <a:cxnLst/>
            <a:rect l="l" t="t" r="r" b="b"/>
            <a:pathLst>
              <a:path w="7053025" h="5732186">
                <a:moveTo>
                  <a:pt x="7053025" y="0"/>
                </a:moveTo>
                <a:lnTo>
                  <a:pt x="0" y="0"/>
                </a:lnTo>
                <a:lnTo>
                  <a:pt x="0" y="5732186"/>
                </a:lnTo>
                <a:lnTo>
                  <a:pt x="7053025" y="5732186"/>
                </a:lnTo>
                <a:lnTo>
                  <a:pt x="7053025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76350"/>
            <a:ext cx="11045845" cy="502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sz="13030" spc="-443">
                <a:solidFill>
                  <a:srgbClr val="004AAD"/>
                </a:solidFill>
                <a:latin typeface="Montserrat Classic Bold"/>
              </a:rPr>
              <a:t>THANK YOU,</a:t>
            </a:r>
          </a:p>
          <a:p>
            <a:pPr algn="l">
              <a:lnSpc>
                <a:spcPts val="13030"/>
              </a:lnSpc>
            </a:pPr>
            <a:endParaRPr lang="en-US" sz="13030" spc="-443">
              <a:solidFill>
                <a:srgbClr val="004AAD"/>
              </a:solidFill>
              <a:latin typeface="Montserrat Classic Bold"/>
            </a:endParaRPr>
          </a:p>
          <a:p>
            <a:pPr algn="l">
              <a:lnSpc>
                <a:spcPts val="13030"/>
              </a:lnSpc>
            </a:pPr>
            <a:r>
              <a:rPr lang="en-US" sz="13030" spc="-443">
                <a:solidFill>
                  <a:srgbClr val="004AAD"/>
                </a:solidFill>
                <a:latin typeface="Montserrat Classic Bold"/>
              </a:rPr>
              <a:t>QUESTIONS?</a:t>
            </a:r>
          </a:p>
        </p:txBody>
      </p:sp>
      <p:sp>
        <p:nvSpPr>
          <p:cNvPr id="3" name="Freeform 3"/>
          <p:cNvSpPr/>
          <p:nvPr/>
        </p:nvSpPr>
        <p:spPr>
          <a:xfrm rot="-1766807">
            <a:off x="10460579" y="2341404"/>
            <a:ext cx="12112141" cy="9843868"/>
          </a:xfrm>
          <a:custGeom>
            <a:avLst/>
            <a:gdLst/>
            <a:ahLst/>
            <a:cxnLst/>
            <a:rect l="l" t="t" r="r" b="b"/>
            <a:pathLst>
              <a:path w="12112141" h="9843868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857</Words>
  <Application>Microsoft Office PowerPoint</Application>
  <PresentationFormat>Custom</PresentationFormat>
  <Paragraphs>396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Montserrat Classic Bold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indexing</dc:title>
  <dc:creator>James</dc:creator>
  <cp:lastModifiedBy>James Schimmel</cp:lastModifiedBy>
  <cp:revision>2</cp:revision>
  <dcterms:created xsi:type="dcterms:W3CDTF">2006-08-16T00:00:00Z</dcterms:created>
  <dcterms:modified xsi:type="dcterms:W3CDTF">2024-05-06T18:49:12Z</dcterms:modified>
  <dc:identifier>DAGEUAZFnbo</dc:identifier>
</cp:coreProperties>
</file>